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League Spartan" panose="020B0604020202020204" charset="0"/>
      <p:regular r:id="rId12"/>
    </p:embeddedFont>
    <p:embeddedFont>
      <p:font typeface="Sanchez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4C13">
                <a:alpha val="100000"/>
              </a:srgbClr>
            </a:gs>
            <a:gs pos="100000">
              <a:srgbClr val="0B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1263" y="7279878"/>
            <a:ext cx="20149968" cy="4474972"/>
          </a:xfrm>
          <a:custGeom>
            <a:avLst/>
            <a:gdLst/>
            <a:ahLst/>
            <a:cxnLst/>
            <a:rect l="l" t="t" r="r" b="b"/>
            <a:pathLst>
              <a:path w="20149968" h="4474972">
                <a:moveTo>
                  <a:pt x="0" y="0"/>
                </a:moveTo>
                <a:lnTo>
                  <a:pt x="20149968" y="0"/>
                </a:lnTo>
                <a:lnTo>
                  <a:pt x="20149968" y="4474972"/>
                </a:lnTo>
                <a:lnTo>
                  <a:pt x="0" y="4474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38473" y="1028700"/>
            <a:ext cx="7676513" cy="5404531"/>
          </a:xfrm>
          <a:custGeom>
            <a:avLst/>
            <a:gdLst/>
            <a:ahLst/>
            <a:cxnLst/>
            <a:rect l="l" t="t" r="r" b="b"/>
            <a:pathLst>
              <a:path w="7676513" h="5404531">
                <a:moveTo>
                  <a:pt x="0" y="0"/>
                </a:moveTo>
                <a:lnTo>
                  <a:pt x="7676513" y="0"/>
                </a:lnTo>
                <a:lnTo>
                  <a:pt x="7676513" y="5404531"/>
                </a:lnTo>
                <a:lnTo>
                  <a:pt x="0" y="54045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223" t="-5430" r="-7677" b="-235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473014" y="6661797"/>
            <a:ext cx="7341971" cy="37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2"/>
              </a:lnSpc>
            </a:pPr>
            <a:r>
              <a:rPr lang="en-US" sz="2325" spc="116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UNIFICANDO IDEIAS, REALIZANDO SONHOS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4C13">
                <a:alpha val="100000"/>
              </a:srgbClr>
            </a:gs>
            <a:gs pos="100000">
              <a:srgbClr val="0B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26227" y="7570589"/>
            <a:ext cx="15011115" cy="1687711"/>
            <a:chOff x="0" y="0"/>
            <a:chExt cx="2342841" cy="2634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2841" cy="263407"/>
            </a:xfrm>
            <a:custGeom>
              <a:avLst/>
              <a:gdLst/>
              <a:ahLst/>
              <a:cxnLst/>
              <a:rect l="l" t="t" r="r" b="b"/>
              <a:pathLst>
                <a:path w="2342841" h="263407">
                  <a:moveTo>
                    <a:pt x="24240" y="0"/>
                  </a:moveTo>
                  <a:lnTo>
                    <a:pt x="2318601" y="0"/>
                  </a:lnTo>
                  <a:cubicBezTo>
                    <a:pt x="2331989" y="0"/>
                    <a:pt x="2342841" y="10853"/>
                    <a:pt x="2342841" y="24240"/>
                  </a:cubicBezTo>
                  <a:lnTo>
                    <a:pt x="2342841" y="239167"/>
                  </a:lnTo>
                  <a:cubicBezTo>
                    <a:pt x="2342841" y="252555"/>
                    <a:pt x="2331989" y="263407"/>
                    <a:pt x="2318601" y="263407"/>
                  </a:cubicBezTo>
                  <a:lnTo>
                    <a:pt x="24240" y="263407"/>
                  </a:lnTo>
                  <a:cubicBezTo>
                    <a:pt x="10853" y="263407"/>
                    <a:pt x="0" y="252555"/>
                    <a:pt x="0" y="239167"/>
                  </a:cubicBezTo>
                  <a:lnTo>
                    <a:pt x="0" y="24240"/>
                  </a:lnTo>
                  <a:cubicBezTo>
                    <a:pt x="0" y="10853"/>
                    <a:pt x="10853" y="0"/>
                    <a:pt x="242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01F0B">
                    <a:alpha val="100000"/>
                  </a:srgbClr>
                </a:gs>
                <a:gs pos="100000">
                  <a:srgbClr val="2B0808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342841" cy="291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2"/>
                </a:lnSpc>
              </a:pPr>
              <a:r>
                <a:rPr lang="en-US" sz="2824" spc="141">
                  <a:solidFill>
                    <a:srgbClr val="FFF7F7"/>
                  </a:solidFill>
                  <a:latin typeface="Sanchez"/>
                  <a:ea typeface="Sanchez"/>
                  <a:cs typeface="Sanchez"/>
                  <a:sym typeface="Sanchez"/>
                </a:rPr>
                <a:t>EXISTE TALENTO, MAS FALTA CONEXÃO</a:t>
              </a:r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6844" y="263400"/>
            <a:ext cx="2733402" cy="255201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28700" y="1298573"/>
            <a:ext cx="8707008" cy="128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0"/>
              </a:lnSpc>
            </a:pPr>
            <a:r>
              <a:rPr lang="en-US" sz="10000" spc="-500">
                <a:solidFill>
                  <a:srgbClr val="FFF7F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3046" y="4413662"/>
            <a:ext cx="6942651" cy="2278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7740" lvl="1" indent="-303870" algn="l">
              <a:lnSpc>
                <a:spcPts val="3659"/>
              </a:lnSpc>
              <a:buFont typeface="Arial"/>
              <a:buChar char="•"/>
            </a:pPr>
            <a:r>
              <a:rPr lang="en-US" sz="2814" spc="140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Dificuldade para conseguir apresentações</a:t>
            </a:r>
          </a:p>
          <a:p>
            <a:pPr marL="607740" lvl="1" indent="-303870" algn="l">
              <a:lnSpc>
                <a:spcPts val="3659"/>
              </a:lnSpc>
              <a:buFont typeface="Arial"/>
              <a:buChar char="•"/>
            </a:pPr>
            <a:r>
              <a:rPr lang="en-US" sz="2814" spc="140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Pouca visibilidade no mercado</a:t>
            </a:r>
          </a:p>
          <a:p>
            <a:pPr marL="607740" lvl="1" indent="-303870" algn="l">
              <a:lnSpc>
                <a:spcPts val="3659"/>
              </a:lnSpc>
              <a:buFont typeface="Arial"/>
              <a:buChar char="•"/>
            </a:pPr>
            <a:r>
              <a:rPr lang="en-US" sz="2814" spc="140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Acesso limitado a casas de show</a:t>
            </a:r>
          </a:p>
          <a:p>
            <a:pPr algn="ctr">
              <a:lnSpc>
                <a:spcPts val="3659"/>
              </a:lnSpc>
            </a:pPr>
            <a:endParaRPr lang="en-US" sz="2814" spc="140">
              <a:solidFill>
                <a:srgbClr val="FFF7F7"/>
              </a:solidFill>
              <a:latin typeface="Sanchez"/>
              <a:ea typeface="Sanchez"/>
              <a:cs typeface="Sanchez"/>
              <a:sym typeface="Sanchez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280412" y="3100567"/>
            <a:ext cx="5267920" cy="90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1"/>
              </a:lnSpc>
              <a:spcBef>
                <a:spcPct val="0"/>
              </a:spcBef>
            </a:pPr>
            <a:r>
              <a:rPr lang="en-US" sz="5300" spc="-265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Artistas Iniciantes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4238434"/>
            <a:ext cx="7310161" cy="2278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7740" lvl="1" indent="-303870" algn="l">
              <a:lnSpc>
                <a:spcPts val="3659"/>
              </a:lnSpc>
              <a:buFont typeface="Arial"/>
              <a:buChar char="•"/>
            </a:pPr>
            <a:r>
              <a:rPr lang="en-US" sz="2814" spc="140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Dificuldade de encontrar artistas locais</a:t>
            </a:r>
          </a:p>
          <a:p>
            <a:pPr marL="607740" lvl="1" indent="-303870" algn="l">
              <a:lnSpc>
                <a:spcPts val="3659"/>
              </a:lnSpc>
              <a:buFont typeface="Arial"/>
              <a:buChar char="•"/>
            </a:pPr>
            <a:r>
              <a:rPr lang="en-US" sz="2814" spc="140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Baixa frequência de público</a:t>
            </a:r>
          </a:p>
          <a:p>
            <a:pPr marL="607740" lvl="1" indent="-303870" algn="l">
              <a:lnSpc>
                <a:spcPts val="3659"/>
              </a:lnSpc>
              <a:buFont typeface="Arial"/>
              <a:buChar char="•"/>
            </a:pPr>
            <a:r>
              <a:rPr lang="en-US" sz="2814" spc="140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Pouca estratégia de divulgação</a:t>
            </a:r>
          </a:p>
          <a:p>
            <a:pPr algn="ctr">
              <a:lnSpc>
                <a:spcPts val="3659"/>
              </a:lnSpc>
            </a:pPr>
            <a:endParaRPr lang="en-US" sz="2814" spc="140">
              <a:solidFill>
                <a:srgbClr val="FFF7F7"/>
              </a:solidFill>
              <a:latin typeface="Sanchez"/>
              <a:ea typeface="Sanchez"/>
              <a:cs typeface="Sanchez"/>
              <a:sym typeface="Sanchez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956433" y="3100567"/>
            <a:ext cx="3743325" cy="90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1"/>
              </a:lnSpc>
              <a:spcBef>
                <a:spcPct val="0"/>
              </a:spcBef>
            </a:pPr>
            <a:r>
              <a:rPr lang="en-US" sz="5300" spc="-265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Contratantes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76139" y="8571835"/>
            <a:ext cx="1950088" cy="1372929"/>
          </a:xfrm>
          <a:custGeom>
            <a:avLst/>
            <a:gdLst/>
            <a:ahLst/>
            <a:cxnLst/>
            <a:rect l="l" t="t" r="r" b="b"/>
            <a:pathLst>
              <a:path w="1950088" h="1372929">
                <a:moveTo>
                  <a:pt x="0" y="0"/>
                </a:moveTo>
                <a:lnTo>
                  <a:pt x="1950088" y="0"/>
                </a:lnTo>
                <a:lnTo>
                  <a:pt x="1950088" y="1372930"/>
                </a:lnTo>
                <a:lnTo>
                  <a:pt x="0" y="13729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223" t="-5430" r="-7677" b="-2357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4C13">
                <a:alpha val="100000"/>
              </a:srgbClr>
            </a:gs>
            <a:gs pos="100000">
              <a:srgbClr val="0B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675" y="3683299"/>
            <a:ext cx="7583723" cy="4824216"/>
            <a:chOff x="0" y="0"/>
            <a:chExt cx="1183620" cy="7529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3620" cy="752934"/>
            </a:xfrm>
            <a:custGeom>
              <a:avLst/>
              <a:gdLst/>
              <a:ahLst/>
              <a:cxnLst/>
              <a:rect l="l" t="t" r="r" b="b"/>
              <a:pathLst>
                <a:path w="1183620" h="752934">
                  <a:moveTo>
                    <a:pt x="47980" y="0"/>
                  </a:moveTo>
                  <a:lnTo>
                    <a:pt x="1135640" y="0"/>
                  </a:lnTo>
                  <a:cubicBezTo>
                    <a:pt x="1162139" y="0"/>
                    <a:pt x="1183620" y="21482"/>
                    <a:pt x="1183620" y="47980"/>
                  </a:cubicBezTo>
                  <a:lnTo>
                    <a:pt x="1183620" y="704953"/>
                  </a:lnTo>
                  <a:cubicBezTo>
                    <a:pt x="1183620" y="731452"/>
                    <a:pt x="1162139" y="752934"/>
                    <a:pt x="1135640" y="752934"/>
                  </a:cubicBezTo>
                  <a:lnTo>
                    <a:pt x="47980" y="752934"/>
                  </a:lnTo>
                  <a:cubicBezTo>
                    <a:pt x="21482" y="752934"/>
                    <a:pt x="0" y="731452"/>
                    <a:pt x="0" y="704953"/>
                  </a:cubicBezTo>
                  <a:lnTo>
                    <a:pt x="0" y="47980"/>
                  </a:lnTo>
                  <a:cubicBezTo>
                    <a:pt x="0" y="21482"/>
                    <a:pt x="21482" y="0"/>
                    <a:pt x="47980" y="0"/>
                  </a:cubicBezTo>
                  <a:close/>
                </a:path>
              </a:pathLst>
            </a:custGeom>
            <a:solidFill>
              <a:srgbClr val="9B39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83620" cy="791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3683299"/>
            <a:ext cx="7583723" cy="4824216"/>
            <a:chOff x="0" y="0"/>
            <a:chExt cx="1183620" cy="7529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3620" cy="752934"/>
            </a:xfrm>
            <a:custGeom>
              <a:avLst/>
              <a:gdLst/>
              <a:ahLst/>
              <a:cxnLst/>
              <a:rect l="l" t="t" r="r" b="b"/>
              <a:pathLst>
                <a:path w="1183620" h="752934">
                  <a:moveTo>
                    <a:pt x="47980" y="0"/>
                  </a:moveTo>
                  <a:lnTo>
                    <a:pt x="1135640" y="0"/>
                  </a:lnTo>
                  <a:cubicBezTo>
                    <a:pt x="1162139" y="0"/>
                    <a:pt x="1183620" y="21482"/>
                    <a:pt x="1183620" y="47980"/>
                  </a:cubicBezTo>
                  <a:lnTo>
                    <a:pt x="1183620" y="704953"/>
                  </a:lnTo>
                  <a:cubicBezTo>
                    <a:pt x="1183620" y="731452"/>
                    <a:pt x="1162139" y="752934"/>
                    <a:pt x="1135640" y="752934"/>
                  </a:cubicBezTo>
                  <a:lnTo>
                    <a:pt x="47980" y="752934"/>
                  </a:lnTo>
                  <a:cubicBezTo>
                    <a:pt x="21482" y="752934"/>
                    <a:pt x="0" y="731452"/>
                    <a:pt x="0" y="704953"/>
                  </a:cubicBezTo>
                  <a:lnTo>
                    <a:pt x="0" y="47980"/>
                  </a:lnTo>
                  <a:cubicBezTo>
                    <a:pt x="0" y="21482"/>
                    <a:pt x="21482" y="0"/>
                    <a:pt x="47980" y="0"/>
                  </a:cubicBezTo>
                  <a:close/>
                </a:path>
              </a:pathLst>
            </a:custGeom>
            <a:solidFill>
              <a:srgbClr val="9B391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83620" cy="791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99132" y="3941755"/>
            <a:ext cx="905816" cy="1201745"/>
          </a:xfrm>
          <a:custGeom>
            <a:avLst/>
            <a:gdLst/>
            <a:ahLst/>
            <a:cxnLst/>
            <a:rect l="l" t="t" r="r" b="b"/>
            <a:pathLst>
              <a:path w="905816" h="1201745">
                <a:moveTo>
                  <a:pt x="0" y="0"/>
                </a:moveTo>
                <a:lnTo>
                  <a:pt x="905816" y="0"/>
                </a:lnTo>
                <a:lnTo>
                  <a:pt x="905816" y="1201745"/>
                </a:lnTo>
                <a:lnTo>
                  <a:pt x="0" y="1201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341484" y="6636065"/>
            <a:ext cx="1762602" cy="1511431"/>
          </a:xfrm>
          <a:custGeom>
            <a:avLst/>
            <a:gdLst/>
            <a:ahLst/>
            <a:cxnLst/>
            <a:rect l="l" t="t" r="r" b="b"/>
            <a:pathLst>
              <a:path w="1762602" h="1511431">
                <a:moveTo>
                  <a:pt x="0" y="0"/>
                </a:moveTo>
                <a:lnTo>
                  <a:pt x="1762601" y="0"/>
                </a:lnTo>
                <a:lnTo>
                  <a:pt x="1762601" y="1511431"/>
                </a:lnTo>
                <a:lnTo>
                  <a:pt x="0" y="15114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298573"/>
            <a:ext cx="8707008" cy="128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0"/>
              </a:lnSpc>
            </a:pPr>
            <a:r>
              <a:rPr lang="en-US" sz="10000" spc="-500">
                <a:solidFill>
                  <a:srgbClr val="FFF7F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SOLUÇÃO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1211" y="5362575"/>
            <a:ext cx="6942651" cy="2784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330" lvl="1" indent="-314665" algn="l">
              <a:lnSpc>
                <a:spcPts val="3789"/>
              </a:lnSpc>
              <a:buFont typeface="Arial"/>
              <a:buChar char="•"/>
            </a:pPr>
            <a:r>
              <a:rPr lang="en-US" sz="2914" spc="145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Criar perfil profissional</a:t>
            </a:r>
          </a:p>
          <a:p>
            <a:pPr marL="629330" lvl="1" indent="-314665" algn="l">
              <a:lnSpc>
                <a:spcPts val="3789"/>
              </a:lnSpc>
              <a:buFont typeface="Arial"/>
              <a:buChar char="•"/>
            </a:pPr>
            <a:r>
              <a:rPr lang="en-US" sz="2914" spc="145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Mostrar portfólio e músicas</a:t>
            </a:r>
          </a:p>
          <a:p>
            <a:pPr marL="629330" lvl="1" indent="-314665" algn="l">
              <a:lnSpc>
                <a:spcPts val="3789"/>
              </a:lnSpc>
              <a:buFont typeface="Arial"/>
              <a:buChar char="•"/>
            </a:pPr>
            <a:r>
              <a:rPr lang="en-US" sz="2914" spc="145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Divulgar redes sociais</a:t>
            </a:r>
          </a:p>
          <a:p>
            <a:pPr marL="629330" lvl="1" indent="-314665" algn="l">
              <a:lnSpc>
                <a:spcPts val="3789"/>
              </a:lnSpc>
              <a:buFont typeface="Arial"/>
              <a:buChar char="•"/>
            </a:pPr>
            <a:r>
              <a:rPr lang="en-US" sz="2914" spc="145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Conectar com outros artistas</a:t>
            </a:r>
          </a:p>
          <a:p>
            <a:pPr marL="629330" lvl="1" indent="-314665" algn="l">
              <a:lnSpc>
                <a:spcPts val="3789"/>
              </a:lnSpc>
              <a:buFont typeface="Arial"/>
              <a:buChar char="•"/>
            </a:pPr>
            <a:r>
              <a:rPr lang="en-US" sz="2914" spc="145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Vender Shows</a:t>
            </a:r>
          </a:p>
          <a:p>
            <a:pPr algn="ctr">
              <a:lnSpc>
                <a:spcPts val="3269"/>
              </a:lnSpc>
            </a:pPr>
            <a:endParaRPr lang="en-US" sz="2914" spc="145">
              <a:solidFill>
                <a:srgbClr val="FFF7F7"/>
              </a:solidFill>
              <a:latin typeface="Sanchez"/>
              <a:ea typeface="Sanchez"/>
              <a:cs typeface="Sanchez"/>
              <a:sym typeface="Sanchez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2787336"/>
            <a:ext cx="14030325" cy="89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1"/>
              </a:lnSpc>
            </a:pPr>
            <a:r>
              <a:rPr lang="en-US" sz="2600" spc="-130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A Sonara plataforma que conecta artistas e organizadores de eventos de forma simples e eficiente.</a:t>
            </a:r>
          </a:p>
          <a:p>
            <a:pPr algn="ctr">
              <a:lnSpc>
                <a:spcPts val="3641"/>
              </a:lnSpc>
              <a:spcBef>
                <a:spcPct val="0"/>
              </a:spcBef>
            </a:pPr>
            <a:endParaRPr lang="en-US" sz="2600" spc="-130">
              <a:solidFill>
                <a:srgbClr val="FFF7F7"/>
              </a:solidFill>
              <a:latin typeface="Sanchez"/>
              <a:ea typeface="Sanchez"/>
              <a:cs typeface="Sanchez"/>
              <a:sym typeface="Sanchez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74217" y="3765566"/>
            <a:ext cx="3565327" cy="137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spc="-400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Artistas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4536" y="5555080"/>
            <a:ext cx="6942651" cy="2784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330" lvl="1" indent="-314665" algn="l">
              <a:lnSpc>
                <a:spcPts val="3789"/>
              </a:lnSpc>
              <a:buFont typeface="Arial"/>
              <a:buChar char="•"/>
            </a:pPr>
            <a:r>
              <a:rPr lang="en-US" sz="2914" spc="145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Encontrar artistas locais</a:t>
            </a:r>
          </a:p>
          <a:p>
            <a:pPr marL="629330" lvl="1" indent="-314665" algn="l">
              <a:lnSpc>
                <a:spcPts val="3789"/>
              </a:lnSpc>
              <a:buFont typeface="Arial"/>
              <a:buChar char="•"/>
            </a:pPr>
            <a:r>
              <a:rPr lang="en-US" sz="2914" spc="145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Enviar propostas de apresentações</a:t>
            </a:r>
          </a:p>
          <a:p>
            <a:pPr marL="629330" lvl="1" indent="-314665" algn="l">
              <a:lnSpc>
                <a:spcPts val="3789"/>
              </a:lnSpc>
              <a:buFont typeface="Arial"/>
              <a:buChar char="•"/>
            </a:pPr>
            <a:r>
              <a:rPr lang="en-US" sz="2914" spc="145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Organizar eventos</a:t>
            </a:r>
          </a:p>
          <a:p>
            <a:pPr marL="629330" lvl="1" indent="-314665" algn="l">
              <a:lnSpc>
                <a:spcPts val="3789"/>
              </a:lnSpc>
              <a:buFont typeface="Arial"/>
              <a:buChar char="•"/>
            </a:pPr>
            <a:r>
              <a:rPr lang="en-US" sz="2914" spc="145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Divulgar Eventos</a:t>
            </a:r>
          </a:p>
          <a:p>
            <a:pPr algn="ctr">
              <a:lnSpc>
                <a:spcPts val="3269"/>
              </a:lnSpc>
            </a:pPr>
            <a:endParaRPr lang="en-US" sz="2914" spc="145">
              <a:solidFill>
                <a:srgbClr val="FFF7F7"/>
              </a:solidFill>
              <a:latin typeface="Sanchez"/>
              <a:ea typeface="Sanchez"/>
              <a:cs typeface="Sanchez"/>
              <a:sym typeface="Sanchez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464536" y="3765566"/>
            <a:ext cx="6417320" cy="137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spc="-400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Organizadores</a:t>
            </a:r>
          </a:p>
        </p:txBody>
      </p:sp>
      <p:sp>
        <p:nvSpPr>
          <p:cNvPr id="16" name="Freeform 16"/>
          <p:cNvSpPr/>
          <p:nvPr/>
        </p:nvSpPr>
        <p:spPr>
          <a:xfrm>
            <a:off x="27254" y="8553247"/>
            <a:ext cx="2002893" cy="1410106"/>
          </a:xfrm>
          <a:custGeom>
            <a:avLst/>
            <a:gdLst/>
            <a:ahLst/>
            <a:cxnLst/>
            <a:rect l="l" t="t" r="r" b="b"/>
            <a:pathLst>
              <a:path w="2002893" h="1410106">
                <a:moveTo>
                  <a:pt x="0" y="0"/>
                </a:moveTo>
                <a:lnTo>
                  <a:pt x="2002892" y="0"/>
                </a:lnTo>
                <a:lnTo>
                  <a:pt x="2002892" y="1410106"/>
                </a:lnTo>
                <a:lnTo>
                  <a:pt x="0" y="14101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223" t="-5430" r="-7677" b="-2357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4C13">
                <a:alpha val="100000"/>
              </a:srgbClr>
            </a:gs>
            <a:gs pos="100000">
              <a:srgbClr val="0B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57300"/>
            <a:ext cx="12942124" cy="128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0"/>
              </a:lnSpc>
            </a:pPr>
            <a:r>
              <a:rPr lang="en-US" sz="10000" spc="-500">
                <a:solidFill>
                  <a:srgbClr val="FFF7F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FUNCIONA?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490809" y="2965780"/>
            <a:ext cx="5356876" cy="3140251"/>
            <a:chOff x="0" y="0"/>
            <a:chExt cx="836068" cy="4901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36068" cy="490111"/>
            </a:xfrm>
            <a:custGeom>
              <a:avLst/>
              <a:gdLst/>
              <a:ahLst/>
              <a:cxnLst/>
              <a:rect l="l" t="t" r="r" b="b"/>
              <a:pathLst>
                <a:path w="836068" h="490111">
                  <a:moveTo>
                    <a:pt x="67926" y="0"/>
                  </a:moveTo>
                  <a:lnTo>
                    <a:pt x="768142" y="0"/>
                  </a:lnTo>
                  <a:cubicBezTo>
                    <a:pt x="805656" y="0"/>
                    <a:pt x="836068" y="30411"/>
                    <a:pt x="836068" y="67926"/>
                  </a:cubicBezTo>
                  <a:lnTo>
                    <a:pt x="836068" y="422185"/>
                  </a:lnTo>
                  <a:cubicBezTo>
                    <a:pt x="836068" y="459699"/>
                    <a:pt x="805656" y="490111"/>
                    <a:pt x="768142" y="490111"/>
                  </a:cubicBezTo>
                  <a:lnTo>
                    <a:pt x="67926" y="490111"/>
                  </a:lnTo>
                  <a:cubicBezTo>
                    <a:pt x="30411" y="490111"/>
                    <a:pt x="0" y="459699"/>
                    <a:pt x="0" y="422185"/>
                  </a:cubicBezTo>
                  <a:lnTo>
                    <a:pt x="0" y="67926"/>
                  </a:lnTo>
                  <a:cubicBezTo>
                    <a:pt x="0" y="30411"/>
                    <a:pt x="30411" y="0"/>
                    <a:pt x="67926" y="0"/>
                  </a:cubicBezTo>
                  <a:close/>
                </a:path>
              </a:pathLst>
            </a:custGeom>
            <a:solidFill>
              <a:srgbClr val="9B391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36068" cy="528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81531" y="2965780"/>
            <a:ext cx="5358815" cy="3140251"/>
            <a:chOff x="0" y="0"/>
            <a:chExt cx="836370" cy="4901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36370" cy="490111"/>
            </a:xfrm>
            <a:custGeom>
              <a:avLst/>
              <a:gdLst/>
              <a:ahLst/>
              <a:cxnLst/>
              <a:rect l="l" t="t" r="r" b="b"/>
              <a:pathLst>
                <a:path w="836370" h="490111">
                  <a:moveTo>
                    <a:pt x="67901" y="0"/>
                  </a:moveTo>
                  <a:lnTo>
                    <a:pt x="768469" y="0"/>
                  </a:lnTo>
                  <a:cubicBezTo>
                    <a:pt x="805970" y="0"/>
                    <a:pt x="836370" y="30400"/>
                    <a:pt x="836370" y="67901"/>
                  </a:cubicBezTo>
                  <a:lnTo>
                    <a:pt x="836370" y="422210"/>
                  </a:lnTo>
                  <a:cubicBezTo>
                    <a:pt x="836370" y="440218"/>
                    <a:pt x="829217" y="457489"/>
                    <a:pt x="816483" y="470223"/>
                  </a:cubicBezTo>
                  <a:cubicBezTo>
                    <a:pt x="803749" y="482957"/>
                    <a:pt x="786478" y="490111"/>
                    <a:pt x="768469" y="490111"/>
                  </a:cubicBezTo>
                  <a:lnTo>
                    <a:pt x="67901" y="490111"/>
                  </a:lnTo>
                  <a:cubicBezTo>
                    <a:pt x="49893" y="490111"/>
                    <a:pt x="32622" y="482957"/>
                    <a:pt x="19888" y="470223"/>
                  </a:cubicBezTo>
                  <a:cubicBezTo>
                    <a:pt x="7154" y="457489"/>
                    <a:pt x="0" y="440218"/>
                    <a:pt x="0" y="422210"/>
                  </a:cubicBezTo>
                  <a:lnTo>
                    <a:pt x="0" y="67901"/>
                  </a:lnTo>
                  <a:cubicBezTo>
                    <a:pt x="0" y="49893"/>
                    <a:pt x="7154" y="32622"/>
                    <a:pt x="19888" y="19888"/>
                  </a:cubicBezTo>
                  <a:cubicBezTo>
                    <a:pt x="32622" y="7154"/>
                    <a:pt x="49893" y="0"/>
                    <a:pt x="67901" y="0"/>
                  </a:cubicBezTo>
                  <a:close/>
                </a:path>
              </a:pathLst>
            </a:custGeom>
            <a:solidFill>
              <a:srgbClr val="9B391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36370" cy="528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81531" y="6525130"/>
            <a:ext cx="5358815" cy="3140251"/>
            <a:chOff x="0" y="0"/>
            <a:chExt cx="836370" cy="4901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36370" cy="490111"/>
            </a:xfrm>
            <a:custGeom>
              <a:avLst/>
              <a:gdLst/>
              <a:ahLst/>
              <a:cxnLst/>
              <a:rect l="l" t="t" r="r" b="b"/>
              <a:pathLst>
                <a:path w="836370" h="490111">
                  <a:moveTo>
                    <a:pt x="67901" y="0"/>
                  </a:moveTo>
                  <a:lnTo>
                    <a:pt x="768469" y="0"/>
                  </a:lnTo>
                  <a:cubicBezTo>
                    <a:pt x="805970" y="0"/>
                    <a:pt x="836370" y="30400"/>
                    <a:pt x="836370" y="67901"/>
                  </a:cubicBezTo>
                  <a:lnTo>
                    <a:pt x="836370" y="422210"/>
                  </a:lnTo>
                  <a:cubicBezTo>
                    <a:pt x="836370" y="440218"/>
                    <a:pt x="829217" y="457489"/>
                    <a:pt x="816483" y="470223"/>
                  </a:cubicBezTo>
                  <a:cubicBezTo>
                    <a:pt x="803749" y="482957"/>
                    <a:pt x="786478" y="490111"/>
                    <a:pt x="768469" y="490111"/>
                  </a:cubicBezTo>
                  <a:lnTo>
                    <a:pt x="67901" y="490111"/>
                  </a:lnTo>
                  <a:cubicBezTo>
                    <a:pt x="49893" y="490111"/>
                    <a:pt x="32622" y="482957"/>
                    <a:pt x="19888" y="470223"/>
                  </a:cubicBezTo>
                  <a:cubicBezTo>
                    <a:pt x="7154" y="457489"/>
                    <a:pt x="0" y="440218"/>
                    <a:pt x="0" y="422210"/>
                  </a:cubicBezTo>
                  <a:lnTo>
                    <a:pt x="0" y="67901"/>
                  </a:lnTo>
                  <a:cubicBezTo>
                    <a:pt x="0" y="49893"/>
                    <a:pt x="7154" y="32622"/>
                    <a:pt x="19888" y="19888"/>
                  </a:cubicBezTo>
                  <a:cubicBezTo>
                    <a:pt x="32622" y="7154"/>
                    <a:pt x="49893" y="0"/>
                    <a:pt x="67901" y="0"/>
                  </a:cubicBezTo>
                  <a:close/>
                </a:path>
              </a:pathLst>
            </a:custGeom>
            <a:solidFill>
              <a:srgbClr val="9B391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36370" cy="528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90809" y="6525130"/>
            <a:ext cx="5356876" cy="3140251"/>
            <a:chOff x="0" y="0"/>
            <a:chExt cx="836068" cy="4901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36068" cy="490111"/>
            </a:xfrm>
            <a:custGeom>
              <a:avLst/>
              <a:gdLst/>
              <a:ahLst/>
              <a:cxnLst/>
              <a:rect l="l" t="t" r="r" b="b"/>
              <a:pathLst>
                <a:path w="836068" h="490111">
                  <a:moveTo>
                    <a:pt x="67926" y="0"/>
                  </a:moveTo>
                  <a:lnTo>
                    <a:pt x="768142" y="0"/>
                  </a:lnTo>
                  <a:cubicBezTo>
                    <a:pt x="805656" y="0"/>
                    <a:pt x="836068" y="30411"/>
                    <a:pt x="836068" y="67926"/>
                  </a:cubicBezTo>
                  <a:lnTo>
                    <a:pt x="836068" y="422185"/>
                  </a:lnTo>
                  <a:cubicBezTo>
                    <a:pt x="836068" y="459699"/>
                    <a:pt x="805656" y="490111"/>
                    <a:pt x="768142" y="490111"/>
                  </a:cubicBezTo>
                  <a:lnTo>
                    <a:pt x="67926" y="490111"/>
                  </a:lnTo>
                  <a:cubicBezTo>
                    <a:pt x="30411" y="490111"/>
                    <a:pt x="0" y="459699"/>
                    <a:pt x="0" y="422185"/>
                  </a:cubicBezTo>
                  <a:lnTo>
                    <a:pt x="0" y="67926"/>
                  </a:lnTo>
                  <a:cubicBezTo>
                    <a:pt x="0" y="30411"/>
                    <a:pt x="30411" y="0"/>
                    <a:pt x="67926" y="0"/>
                  </a:cubicBezTo>
                  <a:close/>
                </a:path>
              </a:pathLst>
            </a:custGeom>
            <a:solidFill>
              <a:srgbClr val="9B391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36068" cy="528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079791" y="3195294"/>
            <a:ext cx="15017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79791" y="4032822"/>
            <a:ext cx="4919631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Monta um perfil profissional com portfólio, músicas e redes sociais.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399">
              <a:solidFill>
                <a:srgbClr val="FFF7F7"/>
              </a:solidFill>
              <a:latin typeface="Sanchez"/>
              <a:ea typeface="Sanchez"/>
              <a:cs typeface="Sanchez"/>
              <a:sym typeface="Sanchez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190071" y="3131476"/>
            <a:ext cx="1599096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Artista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97780" y="3340620"/>
            <a:ext cx="4045831" cy="477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1"/>
              </a:lnSpc>
              <a:spcBef>
                <a:spcPct val="0"/>
              </a:spcBef>
            </a:pPr>
            <a:r>
              <a:rPr lang="en-US" sz="2808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Contratantes / Casas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65679" y="4032822"/>
            <a:ext cx="4407137" cy="1624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8"/>
              </a:lnSpc>
              <a:spcBef>
                <a:spcPct val="0"/>
              </a:spcBef>
            </a:pPr>
            <a:r>
              <a:rPr lang="en-US" sz="2356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Procuram por artistas disponíveis na mesma região ou cidade.</a:t>
            </a:r>
          </a:p>
          <a:p>
            <a:pPr algn="ctr">
              <a:lnSpc>
                <a:spcPts val="3298"/>
              </a:lnSpc>
              <a:spcBef>
                <a:spcPct val="0"/>
              </a:spcBef>
            </a:pPr>
            <a:endParaRPr lang="en-US" sz="2356">
              <a:solidFill>
                <a:srgbClr val="FFF7F7"/>
              </a:solidFill>
              <a:latin typeface="Sanchez"/>
              <a:ea typeface="Sanchez"/>
              <a:cs typeface="Sanchez"/>
              <a:sym typeface="Sanchez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400506" y="6787702"/>
            <a:ext cx="2777321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Propostas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55020" y="7773538"/>
            <a:ext cx="3417127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Contratantes fazem ofertas para o artista.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57721" y="3359670"/>
            <a:ext cx="191244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13298" y="6851520"/>
            <a:ext cx="174417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49673" y="6832470"/>
            <a:ext cx="216096" cy="47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  <a:spcBef>
                <a:spcPct val="0"/>
              </a:spcBef>
            </a:pPr>
            <a:r>
              <a:rPr lang="en-US" sz="2798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65769" y="6832470"/>
            <a:ext cx="3982943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Evento confirmado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72739" y="7730512"/>
            <a:ext cx="4695914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O artista aceita a proposta, um contrato é assinado e o evento é confirmado</a:t>
            </a:r>
          </a:p>
        </p:txBody>
      </p:sp>
      <p:sp>
        <p:nvSpPr>
          <p:cNvPr id="27" name="Freeform 27"/>
          <p:cNvSpPr/>
          <p:nvPr/>
        </p:nvSpPr>
        <p:spPr>
          <a:xfrm>
            <a:off x="8327" y="8588879"/>
            <a:ext cx="2040746" cy="1436756"/>
          </a:xfrm>
          <a:custGeom>
            <a:avLst/>
            <a:gdLst/>
            <a:ahLst/>
            <a:cxnLst/>
            <a:rect l="l" t="t" r="r" b="b"/>
            <a:pathLst>
              <a:path w="2040746" h="1436756">
                <a:moveTo>
                  <a:pt x="0" y="0"/>
                </a:moveTo>
                <a:lnTo>
                  <a:pt x="2040746" y="0"/>
                </a:lnTo>
                <a:lnTo>
                  <a:pt x="2040746" y="1436756"/>
                </a:lnTo>
                <a:lnTo>
                  <a:pt x="0" y="1436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23" t="-5430" r="-7677" b="-2357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4C13">
                <a:alpha val="100000"/>
              </a:srgbClr>
            </a:gs>
            <a:gs pos="100000">
              <a:srgbClr val="0B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047880" cy="10287000"/>
          </a:xfrm>
          <a:custGeom>
            <a:avLst/>
            <a:gdLst/>
            <a:ahLst/>
            <a:cxnLst/>
            <a:rect l="l" t="t" r="r" b="b"/>
            <a:pathLst>
              <a:path w="7047880" h="10287000">
                <a:moveTo>
                  <a:pt x="0" y="0"/>
                </a:moveTo>
                <a:lnTo>
                  <a:pt x="7047880" y="0"/>
                </a:lnTo>
                <a:lnTo>
                  <a:pt x="70478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979" r="-2297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896521" y="924791"/>
            <a:ext cx="5994434" cy="128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0"/>
              </a:lnSpc>
            </a:pPr>
            <a:r>
              <a:rPr lang="en-US" sz="10000" spc="-500">
                <a:solidFill>
                  <a:srgbClr val="FFF7F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82369" y="2454278"/>
            <a:ext cx="10622737" cy="6208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5"/>
              </a:lnSpc>
              <a:spcBef>
                <a:spcPct val="0"/>
              </a:spcBef>
            </a:pPr>
            <a:r>
              <a:rPr lang="en-US" sz="4239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Para Artistas</a:t>
            </a:r>
          </a:p>
          <a:p>
            <a:pPr marL="732311" lvl="1" indent="-366155" algn="l">
              <a:lnSpc>
                <a:spcPts val="4748"/>
              </a:lnSpc>
              <a:buFont typeface="Arial"/>
              <a:buChar char="•"/>
            </a:pPr>
            <a:r>
              <a:rPr lang="en-US" sz="3391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Mais oportunidades de apresentações</a:t>
            </a:r>
          </a:p>
          <a:p>
            <a:pPr marL="732311" lvl="1" indent="-366155" algn="l">
              <a:lnSpc>
                <a:spcPts val="4748"/>
              </a:lnSpc>
              <a:buFont typeface="Arial"/>
              <a:buChar char="•"/>
            </a:pPr>
            <a:r>
              <a:rPr lang="en-US" sz="3391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Visibilidade aumentada no mercado local</a:t>
            </a:r>
          </a:p>
          <a:p>
            <a:pPr marL="732311" lvl="1" indent="-366155" algn="l">
              <a:lnSpc>
                <a:spcPts val="4748"/>
              </a:lnSpc>
              <a:buFont typeface="Arial"/>
              <a:buChar char="•"/>
            </a:pPr>
            <a:r>
              <a:rPr lang="en-US" sz="3391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Networking com organizadores e casas de show</a:t>
            </a:r>
          </a:p>
          <a:p>
            <a:pPr algn="l">
              <a:lnSpc>
                <a:spcPts val="4748"/>
              </a:lnSpc>
            </a:pPr>
            <a:endParaRPr lang="en-US" sz="3391">
              <a:solidFill>
                <a:srgbClr val="FFF7F7"/>
              </a:solidFill>
              <a:latin typeface="Sanchez"/>
              <a:ea typeface="Sanchez"/>
              <a:cs typeface="Sanchez"/>
              <a:sym typeface="Sanchez"/>
            </a:endParaRPr>
          </a:p>
          <a:p>
            <a:pPr algn="l">
              <a:lnSpc>
                <a:spcPts val="4748"/>
              </a:lnSpc>
            </a:pPr>
            <a:endParaRPr lang="en-US" sz="3391">
              <a:solidFill>
                <a:srgbClr val="FFF7F7"/>
              </a:solidFill>
              <a:latin typeface="Sanchez"/>
              <a:ea typeface="Sanchez"/>
              <a:cs typeface="Sanchez"/>
              <a:sym typeface="Sanchez"/>
            </a:endParaRPr>
          </a:p>
          <a:p>
            <a:pPr algn="l">
              <a:lnSpc>
                <a:spcPts val="5935"/>
              </a:lnSpc>
              <a:spcBef>
                <a:spcPct val="0"/>
              </a:spcBef>
            </a:pPr>
            <a:r>
              <a:rPr lang="en-US" sz="4239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Para Casas de Show</a:t>
            </a:r>
          </a:p>
          <a:p>
            <a:pPr marL="732311" lvl="1" indent="-366155" algn="l">
              <a:lnSpc>
                <a:spcPts val="4748"/>
              </a:lnSpc>
              <a:buFont typeface="Arial"/>
              <a:buChar char="•"/>
            </a:pPr>
            <a:r>
              <a:rPr lang="en-US" sz="3391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Ampla base de artistas disponíveis</a:t>
            </a:r>
          </a:p>
          <a:p>
            <a:pPr marL="732311" lvl="1" indent="-366155" algn="l">
              <a:lnSpc>
                <a:spcPts val="4748"/>
              </a:lnSpc>
              <a:buFont typeface="Arial"/>
              <a:buChar char="•"/>
            </a:pPr>
            <a:r>
              <a:rPr lang="en-US" sz="3391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Mais eventos programados</a:t>
            </a:r>
          </a:p>
          <a:p>
            <a:pPr marL="732311" lvl="1" indent="-366155" algn="l">
              <a:lnSpc>
                <a:spcPts val="4748"/>
              </a:lnSpc>
              <a:buFont typeface="Arial"/>
              <a:buChar char="•"/>
            </a:pPr>
            <a:r>
              <a:rPr lang="en-US" sz="3391">
                <a:solidFill>
                  <a:srgbClr val="FFF7F7"/>
                </a:solidFill>
                <a:latin typeface="Sanchez"/>
                <a:ea typeface="Sanchez"/>
                <a:cs typeface="Sanchez"/>
                <a:sym typeface="Sanchez"/>
              </a:rPr>
              <a:t>Atração de mais público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8662375"/>
            <a:ext cx="2068391" cy="1456219"/>
          </a:xfrm>
          <a:custGeom>
            <a:avLst/>
            <a:gdLst/>
            <a:ahLst/>
            <a:cxnLst/>
            <a:rect l="l" t="t" r="r" b="b"/>
            <a:pathLst>
              <a:path w="2068391" h="1456219">
                <a:moveTo>
                  <a:pt x="0" y="0"/>
                </a:moveTo>
                <a:lnTo>
                  <a:pt x="2068391" y="0"/>
                </a:lnTo>
                <a:lnTo>
                  <a:pt x="2068391" y="1456219"/>
                </a:lnTo>
                <a:lnTo>
                  <a:pt x="0" y="1456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223" t="-5430" r="-7677" b="-2357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4C13">
                <a:alpha val="100000"/>
              </a:srgbClr>
            </a:gs>
            <a:gs pos="100000">
              <a:srgbClr val="0B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410200"/>
            <a:ext cx="18288000" cy="4876800"/>
          </a:xfrm>
          <a:custGeom>
            <a:avLst/>
            <a:gdLst/>
            <a:ahLst/>
            <a:cxnLst/>
            <a:rect l="l" t="t" r="r" b="b"/>
            <a:pathLst>
              <a:path w="18288000" h="4876800">
                <a:moveTo>
                  <a:pt x="0" y="0"/>
                </a:moveTo>
                <a:lnTo>
                  <a:pt x="18288000" y="0"/>
                </a:lnTo>
                <a:lnTo>
                  <a:pt x="18288000" y="4876800"/>
                </a:lnTo>
                <a:lnTo>
                  <a:pt x="0" y="487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35146" y="4646608"/>
            <a:ext cx="6531071" cy="121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0"/>
              </a:lnSpc>
            </a:pPr>
            <a:r>
              <a:rPr lang="en-US" sz="9400" spc="-470">
                <a:solidFill>
                  <a:srgbClr val="FFF7F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OBRIGADO</a:t>
            </a:r>
          </a:p>
        </p:txBody>
      </p:sp>
      <p:sp>
        <p:nvSpPr>
          <p:cNvPr id="4" name="Freeform 4"/>
          <p:cNvSpPr/>
          <p:nvPr/>
        </p:nvSpPr>
        <p:spPr>
          <a:xfrm>
            <a:off x="7276987" y="1028700"/>
            <a:ext cx="3447391" cy="2427082"/>
          </a:xfrm>
          <a:custGeom>
            <a:avLst/>
            <a:gdLst/>
            <a:ahLst/>
            <a:cxnLst/>
            <a:rect l="l" t="t" r="r" b="b"/>
            <a:pathLst>
              <a:path w="3447391" h="2427082">
                <a:moveTo>
                  <a:pt x="0" y="0"/>
                </a:moveTo>
                <a:lnTo>
                  <a:pt x="3447390" y="0"/>
                </a:lnTo>
                <a:lnTo>
                  <a:pt x="3447390" y="2427082"/>
                </a:lnTo>
                <a:lnTo>
                  <a:pt x="0" y="2427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223" t="-5430" r="-7677" b="-2357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Personalizar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Sanchez</vt:lpstr>
      <vt:lpstr>Calibri</vt:lpstr>
      <vt:lpstr>Arial</vt:lpstr>
      <vt:lpstr>League Spartan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SONARA</dc:title>
  <cp:lastModifiedBy>PEDRO HENRIQUE OLIVEIRA DA SILVA</cp:lastModifiedBy>
  <cp:revision>2</cp:revision>
  <dcterms:created xsi:type="dcterms:W3CDTF">2006-08-16T00:00:00Z</dcterms:created>
  <dcterms:modified xsi:type="dcterms:W3CDTF">2026-03-17T18:28:13Z</dcterms:modified>
  <dc:identifier>DAHDf7N-78o</dc:identifier>
</cp:coreProperties>
</file>